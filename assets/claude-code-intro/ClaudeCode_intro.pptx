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Claude Code. Your patient AI coworker who never sighs. Six slides, sixty seconds, no prior experience required.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not a chatbot that writes code. It is a coworker that does the work. Think of it as a senior engineer with infinite patience, living in your terminal, willing to explain everything at whatever level you want.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just talk to it. You describe what you want. It builds the thing, tells you what it did, and you keep iterating in plain English. That is the entire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beginners actually stick with it. It speaks human, no jargon unless you ask for it. It shows its work, you can watch it think and edit files. And it cleans up its own mess when something breaks.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day one you can ship a personal website, a script that renames three thousand files, a translator for your grandma's letters, and a bot that books your climbing gym at seven AM. All in under an hour.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commands, that is the entire install. Install once with npm, then type claude. Now close this deck and go build something.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411480"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438912"/>
            <a:ext cx="9601200" cy="365760"/>
          </a:xfrm>
          <a:prstGeom prst="rect">
            <a:avLst/>
          </a:prstGeom>
          <a:noFill/>
        </p:spPr>
        <p:txBody>
          <a:bodyPr wrap="square" lIns="0" rIns="0" tIns="0" bIns="0">
            <a:spAutoFit/>
          </a:bodyPr>
          <a:lstStyle/>
          <a:p>
            <a:pPr algn="l"/>
            <a:r>
              <a:rPr sz="1100" b="1" i="0" spc="200">
                <a:solidFill>
                  <a:srgbClr val="FF6B35"/>
                </a:solidFill>
                <a:latin typeface="Ubuntu"/>
              </a:rPr>
              <a:t>AN INTRO FOR HUMANS WHO NEVER WROTE CODE</a:t>
            </a:r>
          </a:p>
        </p:txBody>
      </p:sp>
      <p:sp>
        <p:nvSpPr>
          <p:cNvPr id="5" name="TextBox 4"/>
          <p:cNvSpPr txBox="1"/>
          <p:nvPr/>
        </p:nvSpPr>
        <p:spPr>
          <a:xfrm>
            <a:off x="548640" y="1737360"/>
            <a:ext cx="10789920" cy="2926080"/>
          </a:xfrm>
          <a:prstGeom prst="rect">
            <a:avLst/>
          </a:prstGeom>
          <a:noFill/>
        </p:spPr>
        <p:txBody>
          <a:bodyPr wrap="square" lIns="0" rIns="0" tIns="0" bIns="0">
            <a:spAutoFit/>
          </a:bodyPr>
          <a:lstStyle/>
          <a:p>
            <a:pPr algn="l">
              <a:lnSpc>
                <a:spcPct val="105000"/>
              </a:lnSpc>
            </a:pPr>
            <a:r>
              <a:rPr sz="7200" b="1" i="0">
                <a:solidFill>
                  <a:srgbClr val="FFFFFF"/>
                </a:solidFill>
                <a:latin typeface="Ubuntu"/>
              </a:rPr>
              <a:t>Meet Claude Code.</a:t>
            </a:r>
          </a:p>
          <a:p>
            <a:pPr algn="l">
              <a:lnSpc>
                <a:spcPct val="105000"/>
              </a:lnSpc>
              <a:spcBef>
                <a:spcPts val="1800"/>
              </a:spcBef>
            </a:pPr>
            <a:r>
              <a:rPr sz="3400" b="0" i="0">
                <a:solidFill>
                  <a:srgbClr val="F5EFE0"/>
                </a:solidFill>
                <a:latin typeface="Ubuntu"/>
              </a:rPr>
              <a:t>Your patient AI coworker</a:t>
            </a:r>
          </a:p>
          <a:p>
            <a:pPr algn="l">
              <a:lnSpc>
                <a:spcPct val="105000"/>
              </a:lnSpc>
            </a:pPr>
            <a:r>
              <a:rPr sz="3400" b="1" i="0">
                <a:solidFill>
                  <a:srgbClr val="FFA480"/>
                </a:solidFill>
                <a:latin typeface="Ubuntu"/>
              </a:rPr>
              <a:t>who never sighs.</a:t>
            </a:r>
          </a:p>
        </p:txBody>
      </p:sp>
      <p:sp>
        <p:nvSpPr>
          <p:cNvPr id="6" name="Oval 5"/>
          <p:cNvSpPr/>
          <p:nvPr/>
        </p:nvSpPr>
        <p:spPr>
          <a:xfrm>
            <a:off x="10479024" y="466344"/>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680192" y="466344"/>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0" y="466344"/>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082528" y="466344"/>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83696" y="466344"/>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484864" y="466344"/>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479024" y="667512"/>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80192" y="667512"/>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881360" y="667512"/>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82528" y="667512"/>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283696" y="667512"/>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484864" y="667512"/>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479024" y="868680"/>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680192" y="868680"/>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881360" y="868680"/>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082528" y="868680"/>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83696" y="868680"/>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484864" y="868680"/>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479024" y="1069848"/>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80192" y="1069848"/>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881360" y="1069848"/>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082528" y="1069848"/>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283696" y="1069848"/>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484864" y="1069848"/>
            <a:ext cx="73152" cy="7315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6172200"/>
            <a:ext cx="11064240" cy="320040"/>
          </a:xfrm>
          <a:prstGeom prst="rect">
            <a:avLst/>
          </a:prstGeom>
          <a:noFill/>
        </p:spPr>
        <p:txBody>
          <a:bodyPr wrap="square" lIns="0" rIns="0" tIns="0" bIns="0">
            <a:spAutoFit/>
          </a:bodyPr>
          <a:lstStyle/>
          <a:p>
            <a:pPr algn="l"/>
            <a:r>
              <a:rPr sz="1300" b="0" i="0">
                <a:solidFill>
                  <a:srgbClr val="F5EFE0"/>
                </a:solidFill>
                <a:latin typeface="Ubuntu"/>
              </a:rPr>
              <a:t>6 slides.  60 seconds.  No prior experience required.</a:t>
            </a:r>
          </a:p>
        </p:txBody>
      </p:sp>
      <p:sp>
        <p:nvSpPr>
          <p:cNvPr id="31" name="TextBox 30"/>
          <p:cNvSpPr txBox="1"/>
          <p:nvPr/>
        </p:nvSpPr>
        <p:spPr>
          <a:xfrm>
            <a:off x="548640" y="6446520"/>
            <a:ext cx="5486400" cy="274320"/>
          </a:xfrm>
          <a:prstGeom prst="rect">
            <a:avLst/>
          </a:prstGeom>
          <a:noFill/>
        </p:spPr>
        <p:txBody>
          <a:bodyPr wrap="square" lIns="0" rIns="0" tIns="0" bIns="0">
            <a:spAutoFit/>
          </a:bodyPr>
          <a:lstStyle/>
          <a:p>
            <a:pPr algn="l"/>
            <a:r>
              <a:rPr sz="1100" b="0" i="0">
                <a:solidFill>
                  <a:srgbClr val="FFA480"/>
                </a:solidFill>
                <a:latin typeface="DejaVu Sans Mono"/>
              </a:rPr>
              <a:t>github.com/HansBug/deck-workflow-skill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10515600" cy="365760"/>
          </a:xfrm>
          <a:prstGeom prst="rect">
            <a:avLst/>
          </a:prstGeom>
          <a:noFill/>
        </p:spPr>
        <p:txBody>
          <a:bodyPr wrap="square" lIns="0" rIns="0" tIns="0" bIns="0">
            <a:spAutoFit/>
          </a:bodyPr>
          <a:lstStyle/>
          <a:p>
            <a:pPr algn="l"/>
            <a:r>
              <a:rPr sz="1100" b="1" i="0" spc="200">
                <a:solidFill>
                  <a:srgbClr val="FF6B35"/>
                </a:solidFill>
                <a:latin typeface="Ubuntu"/>
              </a:rPr>
              <a:t>WHAT EVEN IS IT</a:t>
            </a:r>
          </a:p>
        </p:txBody>
      </p:sp>
      <p:sp>
        <p:nvSpPr>
          <p:cNvPr id="4" name="TextBox 3"/>
          <p:cNvSpPr txBox="1"/>
          <p:nvPr/>
        </p:nvSpPr>
        <p:spPr>
          <a:xfrm>
            <a:off x="685800" y="914400"/>
            <a:ext cx="10789920" cy="1645920"/>
          </a:xfrm>
          <a:prstGeom prst="rect">
            <a:avLst/>
          </a:prstGeom>
          <a:noFill/>
        </p:spPr>
        <p:txBody>
          <a:bodyPr wrap="square" lIns="0" rIns="0" tIns="0" bIns="0">
            <a:spAutoFit/>
          </a:bodyPr>
          <a:lstStyle/>
          <a:p>
            <a:pPr algn="l">
              <a:lnSpc>
                <a:spcPct val="115000"/>
              </a:lnSpc>
            </a:pPr>
            <a:r>
              <a:rPr sz="3000" b="1" i="0">
                <a:solidFill>
                  <a:srgbClr val="0F172A"/>
                </a:solidFill>
                <a:latin typeface="Ubuntu"/>
              </a:rPr>
              <a:t>It is not a chatbot that writes code.</a:t>
            </a:r>
          </a:p>
          <a:p>
            <a:pPr algn="l">
              <a:lnSpc>
                <a:spcPct val="115000"/>
              </a:lnSpc>
            </a:pPr>
            <a:r>
              <a:rPr sz="3000" b="1" i="0">
                <a:solidFill>
                  <a:srgbClr val="FF6B35"/>
                </a:solidFill>
                <a:latin typeface="Ubuntu"/>
              </a:rPr>
              <a:t>It is a coworker that does the work.</a:t>
            </a:r>
          </a:p>
        </p:txBody>
      </p:sp>
      <p:sp>
        <p:nvSpPr>
          <p:cNvPr id="5" name="Rectangle 4"/>
          <p:cNvSpPr/>
          <p:nvPr/>
        </p:nvSpPr>
        <p:spPr>
          <a:xfrm>
            <a:off x="586740" y="3246120"/>
            <a:ext cx="352044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6740" y="3246120"/>
            <a:ext cx="3520440"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1060" y="3566160"/>
            <a:ext cx="2971800" cy="274320"/>
          </a:xfrm>
          <a:prstGeom prst="rect">
            <a:avLst/>
          </a:prstGeom>
          <a:noFill/>
        </p:spPr>
        <p:txBody>
          <a:bodyPr wrap="square" lIns="0" rIns="0" tIns="0" bIns="0">
            <a:spAutoFit/>
          </a:bodyPr>
          <a:lstStyle/>
          <a:p>
            <a:pPr algn="l"/>
            <a:r>
              <a:rPr sz="1400" b="1" i="0" spc="200">
                <a:solidFill>
                  <a:srgbClr val="FF6B35"/>
                </a:solidFill>
                <a:latin typeface="Ubuntu"/>
              </a:rPr>
              <a:t>01</a:t>
            </a:r>
          </a:p>
        </p:txBody>
      </p:sp>
      <p:sp>
        <p:nvSpPr>
          <p:cNvPr id="8" name="TextBox 7"/>
          <p:cNvSpPr txBox="1"/>
          <p:nvPr/>
        </p:nvSpPr>
        <p:spPr>
          <a:xfrm>
            <a:off x="861060" y="3977640"/>
            <a:ext cx="2971800" cy="731520"/>
          </a:xfrm>
          <a:prstGeom prst="rect">
            <a:avLst/>
          </a:prstGeom>
          <a:noFill/>
        </p:spPr>
        <p:txBody>
          <a:bodyPr wrap="square" lIns="0" rIns="0" tIns="0" bIns="0">
            <a:spAutoFit/>
          </a:bodyPr>
          <a:lstStyle/>
          <a:p>
            <a:pPr algn="l"/>
            <a:r>
              <a:rPr sz="2200" b="1" i="0">
                <a:solidFill>
                  <a:srgbClr val="0F172A"/>
                </a:solidFill>
                <a:latin typeface="Ubuntu"/>
              </a:rPr>
              <a:t>A senior engineer</a:t>
            </a:r>
          </a:p>
        </p:txBody>
      </p:sp>
      <p:sp>
        <p:nvSpPr>
          <p:cNvPr id="9" name="TextBox 8"/>
          <p:cNvSpPr txBox="1"/>
          <p:nvPr/>
        </p:nvSpPr>
        <p:spPr>
          <a:xfrm>
            <a:off x="861060" y="4663440"/>
            <a:ext cx="2971800" cy="1005840"/>
          </a:xfrm>
          <a:prstGeom prst="rect">
            <a:avLst/>
          </a:prstGeom>
          <a:noFill/>
        </p:spPr>
        <p:txBody>
          <a:bodyPr wrap="square" lIns="0" rIns="0" tIns="0" bIns="0">
            <a:spAutoFit/>
          </a:bodyPr>
          <a:lstStyle/>
          <a:p>
            <a:pPr algn="l"/>
            <a:r>
              <a:rPr sz="1400" b="0" i="0">
                <a:solidFill>
                  <a:srgbClr val="1F2337"/>
                </a:solidFill>
                <a:latin typeface="Ubuntu"/>
              </a:rPr>
              <a:t>Who has infinite patience and zero ego.</a:t>
            </a:r>
          </a:p>
        </p:txBody>
      </p:sp>
      <p:sp>
        <p:nvSpPr>
          <p:cNvPr id="10" name="Rectangle 9"/>
          <p:cNvSpPr/>
          <p:nvPr/>
        </p:nvSpPr>
        <p:spPr>
          <a:xfrm>
            <a:off x="4335780" y="3246120"/>
            <a:ext cx="352044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5780" y="3246120"/>
            <a:ext cx="3520440"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0100" y="3566160"/>
            <a:ext cx="2971800" cy="274320"/>
          </a:xfrm>
          <a:prstGeom prst="rect">
            <a:avLst/>
          </a:prstGeom>
          <a:noFill/>
        </p:spPr>
        <p:txBody>
          <a:bodyPr wrap="square" lIns="0" rIns="0" tIns="0" bIns="0">
            <a:spAutoFit/>
          </a:bodyPr>
          <a:lstStyle/>
          <a:p>
            <a:pPr algn="l"/>
            <a:r>
              <a:rPr sz="1400" b="1" i="0" spc="200">
                <a:solidFill>
                  <a:srgbClr val="FF6B35"/>
                </a:solidFill>
                <a:latin typeface="Ubuntu"/>
              </a:rPr>
              <a:t>02</a:t>
            </a:r>
          </a:p>
        </p:txBody>
      </p:sp>
      <p:sp>
        <p:nvSpPr>
          <p:cNvPr id="13" name="TextBox 12"/>
          <p:cNvSpPr txBox="1"/>
          <p:nvPr/>
        </p:nvSpPr>
        <p:spPr>
          <a:xfrm>
            <a:off x="4610100" y="3977640"/>
            <a:ext cx="2971800" cy="731520"/>
          </a:xfrm>
          <a:prstGeom prst="rect">
            <a:avLst/>
          </a:prstGeom>
          <a:noFill/>
        </p:spPr>
        <p:txBody>
          <a:bodyPr wrap="square" lIns="0" rIns="0" tIns="0" bIns="0">
            <a:spAutoFit/>
          </a:bodyPr>
          <a:lstStyle/>
          <a:p>
            <a:pPr algn="l"/>
            <a:r>
              <a:rPr sz="2200" b="1" i="0">
                <a:solidFill>
                  <a:srgbClr val="0F172A"/>
                </a:solidFill>
                <a:latin typeface="Ubuntu"/>
              </a:rPr>
              <a:t>Living in your terminal</a:t>
            </a:r>
          </a:p>
        </p:txBody>
      </p:sp>
      <p:sp>
        <p:nvSpPr>
          <p:cNvPr id="14" name="TextBox 13"/>
          <p:cNvSpPr txBox="1"/>
          <p:nvPr/>
        </p:nvSpPr>
        <p:spPr>
          <a:xfrm>
            <a:off x="4610100" y="4663440"/>
            <a:ext cx="2971800" cy="1005840"/>
          </a:xfrm>
          <a:prstGeom prst="rect">
            <a:avLst/>
          </a:prstGeom>
          <a:noFill/>
        </p:spPr>
        <p:txBody>
          <a:bodyPr wrap="square" lIns="0" rIns="0" tIns="0" bIns="0">
            <a:spAutoFit/>
          </a:bodyPr>
          <a:lstStyle/>
          <a:p>
            <a:pPr algn="l"/>
            <a:r>
              <a:rPr sz="1400" b="0" i="0">
                <a:solidFill>
                  <a:srgbClr val="1F2337"/>
                </a:solidFill>
                <a:latin typeface="Ubuntu"/>
              </a:rPr>
              <a:t>You type, it types back, it runs the thing.</a:t>
            </a:r>
          </a:p>
        </p:txBody>
      </p:sp>
      <p:sp>
        <p:nvSpPr>
          <p:cNvPr id="15" name="Rectangle 14"/>
          <p:cNvSpPr/>
          <p:nvPr/>
        </p:nvSpPr>
        <p:spPr>
          <a:xfrm>
            <a:off x="8084820" y="3246120"/>
            <a:ext cx="352044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4820" y="3246120"/>
            <a:ext cx="3520440"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9140" y="3566160"/>
            <a:ext cx="2971800" cy="274320"/>
          </a:xfrm>
          <a:prstGeom prst="rect">
            <a:avLst/>
          </a:prstGeom>
          <a:noFill/>
        </p:spPr>
        <p:txBody>
          <a:bodyPr wrap="square" lIns="0" rIns="0" tIns="0" bIns="0">
            <a:spAutoFit/>
          </a:bodyPr>
          <a:lstStyle/>
          <a:p>
            <a:pPr algn="l"/>
            <a:r>
              <a:rPr sz="1400" b="1" i="0" spc="200">
                <a:solidFill>
                  <a:srgbClr val="FF6B35"/>
                </a:solidFill>
                <a:latin typeface="Ubuntu"/>
              </a:rPr>
              <a:t>03</a:t>
            </a:r>
          </a:p>
        </p:txBody>
      </p:sp>
      <p:sp>
        <p:nvSpPr>
          <p:cNvPr id="18" name="TextBox 17"/>
          <p:cNvSpPr txBox="1"/>
          <p:nvPr/>
        </p:nvSpPr>
        <p:spPr>
          <a:xfrm>
            <a:off x="8359140" y="3977640"/>
            <a:ext cx="2971800" cy="731520"/>
          </a:xfrm>
          <a:prstGeom prst="rect">
            <a:avLst/>
          </a:prstGeom>
          <a:noFill/>
        </p:spPr>
        <p:txBody>
          <a:bodyPr wrap="square" lIns="0" rIns="0" tIns="0" bIns="0">
            <a:spAutoFit/>
          </a:bodyPr>
          <a:lstStyle/>
          <a:p>
            <a:pPr algn="l"/>
            <a:r>
              <a:rPr sz="2200" b="1" i="0">
                <a:solidFill>
                  <a:srgbClr val="0F172A"/>
                </a:solidFill>
                <a:latin typeface="Ubuntu"/>
              </a:rPr>
              <a:t>Explains like you want</a:t>
            </a:r>
          </a:p>
        </p:txBody>
      </p:sp>
      <p:sp>
        <p:nvSpPr>
          <p:cNvPr id="19" name="TextBox 18"/>
          <p:cNvSpPr txBox="1"/>
          <p:nvPr/>
        </p:nvSpPr>
        <p:spPr>
          <a:xfrm>
            <a:off x="8359140" y="4663440"/>
            <a:ext cx="2971800" cy="1005840"/>
          </a:xfrm>
          <a:prstGeom prst="rect">
            <a:avLst/>
          </a:prstGeom>
          <a:noFill/>
        </p:spPr>
        <p:txBody>
          <a:bodyPr wrap="square" lIns="0" rIns="0" tIns="0" bIns="0">
            <a:spAutoFit/>
          </a:bodyPr>
          <a:lstStyle/>
          <a:p>
            <a:pPr algn="l"/>
            <a:r>
              <a:rPr sz="1400" b="0" i="0">
                <a:solidFill>
                  <a:srgbClr val="1F2337"/>
                </a:solidFill>
                <a:latin typeface="Ubuntu"/>
              </a:rPr>
              <a:t>Ask for "like I am five" and it means it.</a:t>
            </a:r>
          </a:p>
        </p:txBody>
      </p:sp>
      <p:sp>
        <p:nvSpPr>
          <p:cNvPr id="20" name="TextBox 19"/>
          <p:cNvSpPr txBox="1"/>
          <p:nvPr/>
        </p:nvSpPr>
        <p:spPr>
          <a:xfrm>
            <a:off x="685800" y="6355080"/>
            <a:ext cx="10972800" cy="274320"/>
          </a:xfrm>
          <a:prstGeom prst="rect">
            <a:avLst/>
          </a:prstGeom>
          <a:noFill/>
        </p:spPr>
        <p:txBody>
          <a:bodyPr wrap="square" lIns="0" rIns="0" tIns="0" bIns="0">
            <a:spAutoFit/>
          </a:bodyPr>
          <a:lstStyle/>
          <a:p>
            <a:pPr algn="l"/>
            <a:r>
              <a:rPr sz="1100" b="0" i="1">
                <a:solidFill>
                  <a:srgbClr val="6B7280"/>
                </a:solidFill>
                <a:latin typeface="Ubuntu"/>
              </a:rPr>
              <a:t>s02  ·  Pick whichever metaphor calms your nerves.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10515600" cy="365760"/>
          </a:xfrm>
          <a:prstGeom prst="rect">
            <a:avLst/>
          </a:prstGeom>
          <a:noFill/>
        </p:spPr>
        <p:txBody>
          <a:bodyPr wrap="square" lIns="0" rIns="0" tIns="0" bIns="0">
            <a:spAutoFit/>
          </a:bodyPr>
          <a:lstStyle/>
          <a:p>
            <a:pPr algn="l"/>
            <a:r>
              <a:rPr sz="1100" b="1" i="0" spc="200">
                <a:solidFill>
                  <a:srgbClr val="FF6B35"/>
                </a:solidFill>
                <a:latin typeface="Ubuntu"/>
              </a:rPr>
              <a:t>HOW IT FEELS</a:t>
            </a:r>
          </a:p>
        </p:txBody>
      </p:sp>
      <p:sp>
        <p:nvSpPr>
          <p:cNvPr id="4" name="TextBox 3"/>
          <p:cNvSpPr txBox="1"/>
          <p:nvPr/>
        </p:nvSpPr>
        <p:spPr>
          <a:xfrm>
            <a:off x="685800" y="914400"/>
            <a:ext cx="10789920" cy="1280160"/>
          </a:xfrm>
          <a:prstGeom prst="rect">
            <a:avLst/>
          </a:prstGeom>
          <a:noFill/>
        </p:spPr>
        <p:txBody>
          <a:bodyPr wrap="square" lIns="0" rIns="0" tIns="0" bIns="0">
            <a:spAutoFit/>
          </a:bodyPr>
          <a:lstStyle/>
          <a:p>
            <a:pPr algn="l">
              <a:lnSpc>
                <a:spcPct val="115000"/>
              </a:lnSpc>
            </a:pPr>
            <a:r>
              <a:rPr sz="3200" b="1" i="0">
                <a:solidFill>
                  <a:srgbClr val="0F172A"/>
                </a:solidFill>
                <a:latin typeface="Ubuntu"/>
              </a:rPr>
              <a:t>You just... talk to it.</a:t>
            </a:r>
          </a:p>
          <a:p>
            <a:pPr algn="l">
              <a:lnSpc>
                <a:spcPct val="115000"/>
              </a:lnSpc>
              <a:spcBef>
                <a:spcPts val="400"/>
              </a:spcBef>
            </a:pPr>
            <a:r>
              <a:rPr sz="1600" b="0" i="0">
                <a:solidFill>
                  <a:srgbClr val="6B7280"/>
                </a:solidFill>
                <a:latin typeface="Ubuntu"/>
              </a:rPr>
              <a:t>A real conversation. Not a feature list.</a:t>
            </a:r>
          </a:p>
        </p:txBody>
      </p:sp>
      <p:sp>
        <p:nvSpPr>
          <p:cNvPr id="5" name="Rounded Rectangle 4"/>
          <p:cNvSpPr/>
          <p:nvPr/>
        </p:nvSpPr>
        <p:spPr>
          <a:xfrm>
            <a:off x="1143000" y="2514600"/>
            <a:ext cx="9921240" cy="3566160"/>
          </a:xfrm>
          <a:prstGeom prst="roundRect">
            <a:avLst>
              <a:gd name="adj" fmla="val 8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2184" y="2752344"/>
            <a:ext cx="164592" cy="164592"/>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746504" y="2752344"/>
            <a:ext cx="164592" cy="164592"/>
          </a:xfrm>
          <a:prstGeom prst="ellipse">
            <a:avLst/>
          </a:prstGeom>
          <a:solidFill>
            <a:srgbClr val="FFA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020824" y="2752344"/>
            <a:ext cx="164592" cy="164592"/>
          </a:xfrm>
          <a:prstGeom prst="ellipse">
            <a:avLst/>
          </a:prstGeom>
          <a:solidFill>
            <a:srgbClr val="F5E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06040" y="2724912"/>
            <a:ext cx="5486400" cy="256032"/>
          </a:xfrm>
          <a:prstGeom prst="rect">
            <a:avLst/>
          </a:prstGeom>
          <a:noFill/>
        </p:spPr>
        <p:txBody>
          <a:bodyPr wrap="square" lIns="0" rIns="0" tIns="0" bIns="0">
            <a:spAutoFit/>
          </a:bodyPr>
          <a:lstStyle/>
          <a:p>
            <a:pPr algn="l"/>
            <a:r>
              <a:rPr sz="1100" b="0" i="0">
                <a:solidFill>
                  <a:srgbClr val="F5EFE0"/>
                </a:solidFill>
                <a:latin typeface="DejaVu Sans Mono"/>
              </a:rPr>
              <a:t>claude — interactive shell</a:t>
            </a:r>
          </a:p>
        </p:txBody>
      </p:sp>
      <p:sp>
        <p:nvSpPr>
          <p:cNvPr id="10" name="TextBox 9"/>
          <p:cNvSpPr txBox="1"/>
          <p:nvPr/>
        </p:nvSpPr>
        <p:spPr>
          <a:xfrm>
            <a:off x="1600200" y="3291840"/>
            <a:ext cx="9006840" cy="2560320"/>
          </a:xfrm>
          <a:prstGeom prst="rect">
            <a:avLst/>
          </a:prstGeom>
          <a:noFill/>
        </p:spPr>
        <p:txBody>
          <a:bodyPr wrap="square" lIns="0" rIns="0" tIns="0" bIns="0">
            <a:spAutoFit/>
          </a:bodyPr>
          <a:lstStyle/>
          <a:p>
            <a:pPr algn="l">
              <a:lnSpc>
                <a:spcPct val="150000"/>
              </a:lnSpc>
            </a:pPr>
            <a:r>
              <a:rPr sz="1400" b="1" i="0">
                <a:solidFill>
                  <a:srgbClr val="FFA480"/>
                </a:solidFill>
                <a:latin typeface="DejaVu Sans Mono"/>
              </a:rPr>
              <a:t>$ hey can you build me a website that tells bad dad jokes</a:t>
            </a:r>
          </a:p>
          <a:p>
            <a:pPr algn="l">
              <a:lnSpc>
                <a:spcPct val="150000"/>
              </a:lnSpc>
            </a:pPr>
            <a:r>
              <a:rPr sz="1400" b="0" i="0">
                <a:solidFill>
                  <a:srgbClr val="F5EFE0"/>
                </a:solidFill>
                <a:latin typeface="DejaVu Sans Mono"/>
              </a:rPr>
              <a:t>  Sure. Setting up a single page with a button that pulls jokes from an API.</a:t>
            </a:r>
          </a:p>
          <a:p>
            <a:pPr algn="l">
              <a:lnSpc>
                <a:spcPct val="150000"/>
              </a:lnSpc>
            </a:pPr>
            <a:r>
              <a:rPr sz="1400" b="0" i="0">
                <a:solidFill>
                  <a:srgbClr val="F5EFE0"/>
                </a:solidFill>
                <a:latin typeface="DejaVu Sans Mono"/>
              </a:rPr>
              <a:t>  Creating index.html, style.css, and script.js now.</a:t>
            </a:r>
          </a:p>
          <a:p>
            <a:pPr algn="l">
              <a:lnSpc>
                <a:spcPct val="150000"/>
              </a:lnSpc>
            </a:pPr>
            <a:r>
              <a:rPr sz="1400" b="1" i="0">
                <a:solidFill>
                  <a:srgbClr val="FFA480"/>
                </a:solidFill>
                <a:latin typeface="DejaVu Sans Mono"/>
              </a:rPr>
              <a:t>$ looks great. can you make the background neon pink</a:t>
            </a:r>
          </a:p>
          <a:p>
            <a:pPr algn="l">
              <a:lnSpc>
                <a:spcPct val="150000"/>
              </a:lnSpc>
            </a:pPr>
            <a:r>
              <a:rPr sz="1400" b="0" i="0">
                <a:solidFill>
                  <a:srgbClr val="F5EFE0"/>
                </a:solidFill>
                <a:latin typeface="DejaVu Sans Mono"/>
              </a:rPr>
              <a:t>  Done. It is extremely pink now. Regrettable but functional.</a:t>
            </a:r>
          </a:p>
        </p:txBody>
      </p:sp>
      <p:sp>
        <p:nvSpPr>
          <p:cNvPr id="11" name="TextBox 10"/>
          <p:cNvSpPr txBox="1"/>
          <p:nvPr/>
        </p:nvSpPr>
        <p:spPr>
          <a:xfrm>
            <a:off x="685800" y="6309360"/>
            <a:ext cx="10972800" cy="320040"/>
          </a:xfrm>
          <a:prstGeom prst="rect">
            <a:avLst/>
          </a:prstGeom>
          <a:noFill/>
        </p:spPr>
        <p:txBody>
          <a:bodyPr wrap="square" lIns="0" rIns="0" tIns="0" bIns="0">
            <a:spAutoFit/>
          </a:bodyPr>
          <a:lstStyle/>
          <a:p>
            <a:pPr algn="ctr"/>
            <a:r>
              <a:rPr sz="1400" b="0" i="1">
                <a:solidFill>
                  <a:srgbClr val="0F172A"/>
                </a:solidFill>
                <a:latin typeface="Ubuntu"/>
              </a:rPr>
              <a:t>That is it. That is the interaction.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10515600" cy="365760"/>
          </a:xfrm>
          <a:prstGeom prst="rect">
            <a:avLst/>
          </a:prstGeom>
          <a:noFill/>
        </p:spPr>
        <p:txBody>
          <a:bodyPr wrap="square" lIns="0" rIns="0" tIns="0" bIns="0">
            <a:spAutoFit/>
          </a:bodyPr>
          <a:lstStyle/>
          <a:p>
            <a:pPr algn="l"/>
            <a:r>
              <a:rPr sz="1100" b="1" i="0" spc="200">
                <a:solidFill>
                  <a:srgbClr val="FF6B35"/>
                </a:solidFill>
                <a:latin typeface="Ubuntu"/>
              </a:rPr>
              <a:t>WHY IT STICKS</a:t>
            </a:r>
          </a:p>
        </p:txBody>
      </p:sp>
      <p:sp>
        <p:nvSpPr>
          <p:cNvPr id="4" name="TextBox 3"/>
          <p:cNvSpPr txBox="1"/>
          <p:nvPr/>
        </p:nvSpPr>
        <p:spPr>
          <a:xfrm>
            <a:off x="685800" y="914400"/>
            <a:ext cx="10789920" cy="640080"/>
          </a:xfrm>
          <a:prstGeom prst="rect">
            <a:avLst/>
          </a:prstGeom>
          <a:noFill/>
        </p:spPr>
        <p:txBody>
          <a:bodyPr wrap="square" lIns="0" rIns="0" tIns="0" bIns="0">
            <a:spAutoFit/>
          </a:bodyPr>
          <a:lstStyle/>
          <a:p>
            <a:pPr algn="l"/>
            <a:r>
              <a:rPr sz="3000" b="1" i="0">
                <a:solidFill>
                  <a:srgbClr val="0F172A"/>
                </a:solidFill>
                <a:latin typeface="Ubuntu"/>
              </a:rPr>
              <a:t>Why beginners actually stick with it.</a:t>
            </a:r>
          </a:p>
        </p:txBody>
      </p:sp>
      <p:sp>
        <p:nvSpPr>
          <p:cNvPr id="5" name="TextBox 4"/>
          <p:cNvSpPr txBox="1"/>
          <p:nvPr/>
        </p:nvSpPr>
        <p:spPr>
          <a:xfrm>
            <a:off x="685800" y="1554480"/>
            <a:ext cx="10789920" cy="365760"/>
          </a:xfrm>
          <a:prstGeom prst="rect">
            <a:avLst/>
          </a:prstGeom>
          <a:noFill/>
        </p:spPr>
        <p:txBody>
          <a:bodyPr wrap="square" lIns="0" rIns="0" tIns="0" bIns="0">
            <a:spAutoFit/>
          </a:bodyPr>
          <a:lstStyle/>
          <a:p>
            <a:pPr algn="l"/>
            <a:r>
              <a:rPr sz="1500" b="0" i="0">
                <a:solidFill>
                  <a:srgbClr val="6B7280"/>
                </a:solidFill>
                <a:latin typeface="Ubuntu"/>
              </a:rPr>
              <a:t>Three things that make the learning curve flatter than you expect.</a:t>
            </a:r>
          </a:p>
        </p:txBody>
      </p:sp>
      <p:sp>
        <p:nvSpPr>
          <p:cNvPr id="6" name="Rectangle 5"/>
          <p:cNvSpPr/>
          <p:nvPr/>
        </p:nvSpPr>
        <p:spPr>
          <a:xfrm>
            <a:off x="586740" y="2560320"/>
            <a:ext cx="3520440" cy="3520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6780" y="2834640"/>
            <a:ext cx="2880360" cy="1280160"/>
          </a:xfrm>
          <a:prstGeom prst="rect">
            <a:avLst/>
          </a:prstGeom>
          <a:noFill/>
        </p:spPr>
        <p:txBody>
          <a:bodyPr wrap="square" lIns="0" rIns="0" tIns="0" bIns="0">
            <a:spAutoFit/>
          </a:bodyPr>
          <a:lstStyle/>
          <a:p>
            <a:pPr algn="l"/>
            <a:r>
              <a:rPr sz="6400" b="1" i="0">
                <a:solidFill>
                  <a:srgbClr val="FF6B35"/>
                </a:solidFill>
                <a:latin typeface="Ubuntu"/>
              </a:rPr>
              <a:t>01</a:t>
            </a:r>
          </a:p>
        </p:txBody>
      </p:sp>
      <p:sp>
        <p:nvSpPr>
          <p:cNvPr id="8" name="TextBox 7"/>
          <p:cNvSpPr txBox="1"/>
          <p:nvPr/>
        </p:nvSpPr>
        <p:spPr>
          <a:xfrm>
            <a:off x="906780" y="4251960"/>
            <a:ext cx="2880360" cy="502920"/>
          </a:xfrm>
          <a:prstGeom prst="rect">
            <a:avLst/>
          </a:prstGeom>
          <a:noFill/>
        </p:spPr>
        <p:txBody>
          <a:bodyPr wrap="square" lIns="0" rIns="0" tIns="0" bIns="0">
            <a:spAutoFit/>
          </a:bodyPr>
          <a:lstStyle/>
          <a:p>
            <a:pPr algn="l"/>
            <a:r>
              <a:rPr sz="2200" b="1" i="0">
                <a:solidFill>
                  <a:srgbClr val="0F172A"/>
                </a:solidFill>
                <a:latin typeface="Ubuntu"/>
              </a:rPr>
              <a:t>Speaks human</a:t>
            </a:r>
          </a:p>
        </p:txBody>
      </p:sp>
      <p:sp>
        <p:nvSpPr>
          <p:cNvPr id="9" name="TextBox 8"/>
          <p:cNvSpPr txBox="1"/>
          <p:nvPr/>
        </p:nvSpPr>
        <p:spPr>
          <a:xfrm>
            <a:off x="906780" y="4892040"/>
            <a:ext cx="2880360" cy="1005840"/>
          </a:xfrm>
          <a:prstGeom prst="rect">
            <a:avLst/>
          </a:prstGeom>
          <a:noFill/>
        </p:spPr>
        <p:txBody>
          <a:bodyPr wrap="square" lIns="0" rIns="0" tIns="0" bIns="0">
            <a:spAutoFit/>
          </a:bodyPr>
          <a:lstStyle/>
          <a:p>
            <a:pPr algn="l"/>
            <a:r>
              <a:rPr sz="1300" b="0" i="0">
                <a:solidFill>
                  <a:srgbClr val="1F2337"/>
                </a:solidFill>
                <a:latin typeface="Ubuntu"/>
              </a:rPr>
              <a:t>No jargon unless you ask for it. No condescension either.</a:t>
            </a:r>
          </a:p>
        </p:txBody>
      </p:sp>
      <p:sp>
        <p:nvSpPr>
          <p:cNvPr id="10" name="Rectangle 9"/>
          <p:cNvSpPr/>
          <p:nvPr/>
        </p:nvSpPr>
        <p:spPr>
          <a:xfrm>
            <a:off x="4335780" y="2560320"/>
            <a:ext cx="3520440" cy="3520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5820" y="2834640"/>
            <a:ext cx="2880360" cy="1280160"/>
          </a:xfrm>
          <a:prstGeom prst="rect">
            <a:avLst/>
          </a:prstGeom>
          <a:noFill/>
        </p:spPr>
        <p:txBody>
          <a:bodyPr wrap="square" lIns="0" rIns="0" tIns="0" bIns="0">
            <a:spAutoFit/>
          </a:bodyPr>
          <a:lstStyle/>
          <a:p>
            <a:pPr algn="l"/>
            <a:r>
              <a:rPr sz="6400" b="1" i="0">
                <a:solidFill>
                  <a:srgbClr val="FF6B35"/>
                </a:solidFill>
                <a:latin typeface="Ubuntu"/>
              </a:rPr>
              <a:t>02</a:t>
            </a:r>
          </a:p>
        </p:txBody>
      </p:sp>
      <p:sp>
        <p:nvSpPr>
          <p:cNvPr id="12" name="TextBox 11"/>
          <p:cNvSpPr txBox="1"/>
          <p:nvPr/>
        </p:nvSpPr>
        <p:spPr>
          <a:xfrm>
            <a:off x="4655820" y="4251960"/>
            <a:ext cx="2880360" cy="502920"/>
          </a:xfrm>
          <a:prstGeom prst="rect">
            <a:avLst/>
          </a:prstGeom>
          <a:noFill/>
        </p:spPr>
        <p:txBody>
          <a:bodyPr wrap="square" lIns="0" rIns="0" tIns="0" bIns="0">
            <a:spAutoFit/>
          </a:bodyPr>
          <a:lstStyle/>
          <a:p>
            <a:pPr algn="l"/>
            <a:r>
              <a:rPr sz="2200" b="1" i="0">
                <a:solidFill>
                  <a:srgbClr val="0F172A"/>
                </a:solidFill>
                <a:latin typeface="Ubuntu"/>
              </a:rPr>
              <a:t>Shows its work</a:t>
            </a:r>
          </a:p>
        </p:txBody>
      </p:sp>
      <p:sp>
        <p:nvSpPr>
          <p:cNvPr id="13" name="TextBox 12"/>
          <p:cNvSpPr txBox="1"/>
          <p:nvPr/>
        </p:nvSpPr>
        <p:spPr>
          <a:xfrm>
            <a:off x="4655820" y="4892040"/>
            <a:ext cx="2880360" cy="1005840"/>
          </a:xfrm>
          <a:prstGeom prst="rect">
            <a:avLst/>
          </a:prstGeom>
          <a:noFill/>
        </p:spPr>
        <p:txBody>
          <a:bodyPr wrap="square" lIns="0" rIns="0" tIns="0" bIns="0">
            <a:spAutoFit/>
          </a:bodyPr>
          <a:lstStyle/>
          <a:p>
            <a:pPr algn="l"/>
            <a:r>
              <a:rPr sz="1300" b="0" i="0">
                <a:solidFill>
                  <a:srgbClr val="1F2337"/>
                </a:solidFill>
                <a:latin typeface="Ubuntu"/>
              </a:rPr>
              <a:t>Watch it think, plan, and edit files in real time.</a:t>
            </a:r>
          </a:p>
        </p:txBody>
      </p:sp>
      <p:sp>
        <p:nvSpPr>
          <p:cNvPr id="14" name="Rectangle 13"/>
          <p:cNvSpPr/>
          <p:nvPr/>
        </p:nvSpPr>
        <p:spPr>
          <a:xfrm>
            <a:off x="8084820" y="2560320"/>
            <a:ext cx="3520440" cy="3520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4860" y="2834640"/>
            <a:ext cx="2880360" cy="1280160"/>
          </a:xfrm>
          <a:prstGeom prst="rect">
            <a:avLst/>
          </a:prstGeom>
          <a:noFill/>
        </p:spPr>
        <p:txBody>
          <a:bodyPr wrap="square" lIns="0" rIns="0" tIns="0" bIns="0">
            <a:spAutoFit/>
          </a:bodyPr>
          <a:lstStyle/>
          <a:p>
            <a:pPr algn="l"/>
            <a:r>
              <a:rPr sz="6400" b="1" i="0">
                <a:solidFill>
                  <a:srgbClr val="FF6B35"/>
                </a:solidFill>
                <a:latin typeface="Ubuntu"/>
              </a:rPr>
              <a:t>03</a:t>
            </a:r>
          </a:p>
        </p:txBody>
      </p:sp>
      <p:sp>
        <p:nvSpPr>
          <p:cNvPr id="16" name="TextBox 15"/>
          <p:cNvSpPr txBox="1"/>
          <p:nvPr/>
        </p:nvSpPr>
        <p:spPr>
          <a:xfrm>
            <a:off x="8404860" y="4251960"/>
            <a:ext cx="2880360" cy="502920"/>
          </a:xfrm>
          <a:prstGeom prst="rect">
            <a:avLst/>
          </a:prstGeom>
          <a:noFill/>
        </p:spPr>
        <p:txBody>
          <a:bodyPr wrap="square" lIns="0" rIns="0" tIns="0" bIns="0">
            <a:spAutoFit/>
          </a:bodyPr>
          <a:lstStyle/>
          <a:p>
            <a:pPr algn="l"/>
            <a:r>
              <a:rPr sz="2200" b="1" i="0">
                <a:solidFill>
                  <a:srgbClr val="0F172A"/>
                </a:solidFill>
                <a:latin typeface="Ubuntu"/>
              </a:rPr>
              <a:t>Fixes its own bugs</a:t>
            </a:r>
          </a:p>
        </p:txBody>
      </p:sp>
      <p:sp>
        <p:nvSpPr>
          <p:cNvPr id="17" name="TextBox 16"/>
          <p:cNvSpPr txBox="1"/>
          <p:nvPr/>
        </p:nvSpPr>
        <p:spPr>
          <a:xfrm>
            <a:off x="8404860" y="4892040"/>
            <a:ext cx="2880360" cy="1005840"/>
          </a:xfrm>
          <a:prstGeom prst="rect">
            <a:avLst/>
          </a:prstGeom>
          <a:noFill/>
        </p:spPr>
        <p:txBody>
          <a:bodyPr wrap="square" lIns="0" rIns="0" tIns="0" bIns="0">
            <a:spAutoFit/>
          </a:bodyPr>
          <a:lstStyle/>
          <a:p>
            <a:pPr algn="l"/>
            <a:r>
              <a:rPr sz="1300" b="0" i="0">
                <a:solidFill>
                  <a:srgbClr val="1F2337"/>
                </a:solidFill>
                <a:latin typeface="Ubuntu"/>
              </a:rPr>
              <a:t>If it breaks the build, it usually fixes it before you notice.</a:t>
            </a:r>
          </a:p>
        </p:txBody>
      </p:sp>
      <p:sp>
        <p:nvSpPr>
          <p:cNvPr id="18" name="TextBox 17"/>
          <p:cNvSpPr txBox="1"/>
          <p:nvPr/>
        </p:nvSpPr>
        <p:spPr>
          <a:xfrm>
            <a:off x="685800" y="6355080"/>
            <a:ext cx="10972800" cy="274320"/>
          </a:xfrm>
          <a:prstGeom prst="rect">
            <a:avLst/>
          </a:prstGeom>
          <a:noFill/>
        </p:spPr>
        <p:txBody>
          <a:bodyPr wrap="square" lIns="0" rIns="0" tIns="0" bIns="0">
            <a:spAutoFit/>
          </a:bodyPr>
          <a:lstStyle/>
          <a:p>
            <a:pPr algn="l"/>
            <a:r>
              <a:rPr sz="1100" b="0" i="1">
                <a:solidFill>
                  <a:srgbClr val="6B7280"/>
                </a:solidFill>
                <a:latin typeface="Ubuntu"/>
              </a:rPr>
              <a:t>s04  ·  No one learns when they feel stupid.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10515600" cy="365760"/>
          </a:xfrm>
          <a:prstGeom prst="rect">
            <a:avLst/>
          </a:prstGeom>
          <a:noFill/>
        </p:spPr>
        <p:txBody>
          <a:bodyPr wrap="square" lIns="0" rIns="0" tIns="0" bIns="0">
            <a:spAutoFit/>
          </a:bodyPr>
          <a:lstStyle/>
          <a:p>
            <a:pPr algn="l"/>
            <a:r>
              <a:rPr sz="1100" b="1" i="0" spc="200">
                <a:solidFill>
                  <a:srgbClr val="FF6B35"/>
                </a:solidFill>
                <a:latin typeface="Ubuntu"/>
              </a:rPr>
              <a:t>WHAT YOU CAN BUILD</a:t>
            </a:r>
          </a:p>
        </p:txBody>
      </p:sp>
      <p:sp>
        <p:nvSpPr>
          <p:cNvPr id="4" name="TextBox 3"/>
          <p:cNvSpPr txBox="1"/>
          <p:nvPr/>
        </p:nvSpPr>
        <p:spPr>
          <a:xfrm>
            <a:off x="685800" y="914400"/>
            <a:ext cx="10789920" cy="640080"/>
          </a:xfrm>
          <a:prstGeom prst="rect">
            <a:avLst/>
          </a:prstGeom>
          <a:noFill/>
        </p:spPr>
        <p:txBody>
          <a:bodyPr wrap="square" lIns="0" rIns="0" tIns="0" bIns="0">
            <a:spAutoFit/>
          </a:bodyPr>
          <a:lstStyle/>
          <a:p>
            <a:pPr algn="l"/>
            <a:r>
              <a:rPr sz="3000" b="1" i="0">
                <a:solidFill>
                  <a:srgbClr val="0F172A"/>
                </a:solidFill>
                <a:latin typeface="Ubuntu"/>
              </a:rPr>
              <a:t>Things you can ship on day one.</a:t>
            </a:r>
          </a:p>
        </p:txBody>
      </p:sp>
      <p:sp>
        <p:nvSpPr>
          <p:cNvPr id="5" name="TextBox 4"/>
          <p:cNvSpPr txBox="1"/>
          <p:nvPr/>
        </p:nvSpPr>
        <p:spPr>
          <a:xfrm>
            <a:off x="685800" y="1554480"/>
            <a:ext cx="10789920" cy="365760"/>
          </a:xfrm>
          <a:prstGeom prst="rect">
            <a:avLst/>
          </a:prstGeom>
          <a:noFill/>
        </p:spPr>
        <p:txBody>
          <a:bodyPr wrap="square" lIns="0" rIns="0" tIns="0" bIns="0">
            <a:spAutoFit/>
          </a:bodyPr>
          <a:lstStyle/>
          <a:p>
            <a:pPr algn="l"/>
            <a:r>
              <a:rPr sz="1500" b="0" i="0">
                <a:solidFill>
                  <a:srgbClr val="6B7280"/>
                </a:solidFill>
                <a:latin typeface="Ubuntu"/>
              </a:rPr>
              <a:t>Zero experience, one laptop, a cup of coffee.</a:t>
            </a:r>
          </a:p>
        </p:txBody>
      </p:sp>
      <p:sp>
        <p:nvSpPr>
          <p:cNvPr id="6" name="Rectangle 5"/>
          <p:cNvSpPr/>
          <p:nvPr/>
        </p:nvSpPr>
        <p:spPr>
          <a:xfrm>
            <a:off x="838200" y="2423160"/>
            <a:ext cx="5120640" cy="1874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8200" y="2423160"/>
            <a:ext cx="73152" cy="18745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8240" y="2743200"/>
            <a:ext cx="4480560" cy="1005840"/>
          </a:xfrm>
          <a:prstGeom prst="rect">
            <a:avLst/>
          </a:prstGeom>
          <a:noFill/>
        </p:spPr>
        <p:txBody>
          <a:bodyPr wrap="square" lIns="0" rIns="0" tIns="0" bIns="0">
            <a:spAutoFit/>
          </a:bodyPr>
          <a:lstStyle/>
          <a:p>
            <a:pPr algn="l"/>
            <a:r>
              <a:rPr sz="2200" b="1" i="0">
                <a:solidFill>
                  <a:srgbClr val="0F172A"/>
                </a:solidFill>
                <a:latin typeface="Ubuntu"/>
              </a:rPr>
              <a:t>A personal website</a:t>
            </a:r>
          </a:p>
        </p:txBody>
      </p:sp>
      <p:sp>
        <p:nvSpPr>
          <p:cNvPr id="9" name="TextBox 8"/>
          <p:cNvSpPr txBox="1"/>
          <p:nvPr/>
        </p:nvSpPr>
        <p:spPr>
          <a:xfrm>
            <a:off x="1158240" y="3749040"/>
            <a:ext cx="4480560" cy="411480"/>
          </a:xfrm>
          <a:prstGeom prst="rect">
            <a:avLst/>
          </a:prstGeom>
          <a:noFill/>
        </p:spPr>
        <p:txBody>
          <a:bodyPr wrap="square" lIns="0" rIns="0" tIns="0" bIns="0">
            <a:spAutoFit/>
          </a:bodyPr>
          <a:lstStyle/>
          <a:p>
            <a:pPr algn="l"/>
            <a:r>
              <a:rPr sz="1300" b="0" i="1">
                <a:solidFill>
                  <a:srgbClr val="FF6B35"/>
                </a:solidFill>
                <a:latin typeface="DejaVu Sans Mono"/>
              </a:rPr>
              <a:t>~ 5 minutes</a:t>
            </a:r>
          </a:p>
        </p:txBody>
      </p:sp>
      <p:sp>
        <p:nvSpPr>
          <p:cNvPr id="10" name="Rectangle 9"/>
          <p:cNvSpPr/>
          <p:nvPr/>
        </p:nvSpPr>
        <p:spPr>
          <a:xfrm>
            <a:off x="6233160" y="2423160"/>
            <a:ext cx="5120640" cy="1874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3160" y="2423160"/>
            <a:ext cx="73152" cy="18745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3200" y="2743200"/>
            <a:ext cx="4480560" cy="1005840"/>
          </a:xfrm>
          <a:prstGeom prst="rect">
            <a:avLst/>
          </a:prstGeom>
          <a:noFill/>
        </p:spPr>
        <p:txBody>
          <a:bodyPr wrap="square" lIns="0" rIns="0" tIns="0" bIns="0">
            <a:spAutoFit/>
          </a:bodyPr>
          <a:lstStyle/>
          <a:p>
            <a:pPr algn="l"/>
            <a:r>
              <a:rPr sz="2200" b="1" i="0">
                <a:solidFill>
                  <a:srgbClr val="0F172A"/>
                </a:solidFill>
                <a:latin typeface="Ubuntu"/>
              </a:rPr>
              <a:t>A script that renames 3000 files</a:t>
            </a:r>
          </a:p>
        </p:txBody>
      </p:sp>
      <p:sp>
        <p:nvSpPr>
          <p:cNvPr id="13" name="TextBox 12"/>
          <p:cNvSpPr txBox="1"/>
          <p:nvPr/>
        </p:nvSpPr>
        <p:spPr>
          <a:xfrm>
            <a:off x="6553200" y="3749040"/>
            <a:ext cx="4480560" cy="411480"/>
          </a:xfrm>
          <a:prstGeom prst="rect">
            <a:avLst/>
          </a:prstGeom>
          <a:noFill/>
        </p:spPr>
        <p:txBody>
          <a:bodyPr wrap="square" lIns="0" rIns="0" tIns="0" bIns="0">
            <a:spAutoFit/>
          </a:bodyPr>
          <a:lstStyle/>
          <a:p>
            <a:pPr algn="l"/>
            <a:r>
              <a:rPr sz="1300" b="0" i="1">
                <a:solidFill>
                  <a:srgbClr val="FF6B35"/>
                </a:solidFill>
                <a:latin typeface="DejaVu Sans Mono"/>
              </a:rPr>
              <a:t>~ 3 minutes</a:t>
            </a:r>
          </a:p>
        </p:txBody>
      </p:sp>
      <p:sp>
        <p:nvSpPr>
          <p:cNvPr id="14" name="Rectangle 13"/>
          <p:cNvSpPr/>
          <p:nvPr/>
        </p:nvSpPr>
        <p:spPr>
          <a:xfrm>
            <a:off x="838200" y="4572000"/>
            <a:ext cx="5120640" cy="1874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8200" y="4572000"/>
            <a:ext cx="73152" cy="18745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58240" y="4892040"/>
            <a:ext cx="4480560" cy="1005840"/>
          </a:xfrm>
          <a:prstGeom prst="rect">
            <a:avLst/>
          </a:prstGeom>
          <a:noFill/>
        </p:spPr>
        <p:txBody>
          <a:bodyPr wrap="square" lIns="0" rIns="0" tIns="0" bIns="0">
            <a:spAutoFit/>
          </a:bodyPr>
          <a:lstStyle/>
          <a:p>
            <a:pPr algn="l"/>
            <a:r>
              <a:rPr sz="2200" b="1" i="0">
                <a:solidFill>
                  <a:srgbClr val="0F172A"/>
                </a:solidFill>
                <a:latin typeface="Ubuntu"/>
              </a:rPr>
              <a:t>A translator for your grandma's letters</a:t>
            </a:r>
          </a:p>
        </p:txBody>
      </p:sp>
      <p:sp>
        <p:nvSpPr>
          <p:cNvPr id="17" name="TextBox 16"/>
          <p:cNvSpPr txBox="1"/>
          <p:nvPr/>
        </p:nvSpPr>
        <p:spPr>
          <a:xfrm>
            <a:off x="1158240" y="5897880"/>
            <a:ext cx="4480560" cy="411480"/>
          </a:xfrm>
          <a:prstGeom prst="rect">
            <a:avLst/>
          </a:prstGeom>
          <a:noFill/>
        </p:spPr>
        <p:txBody>
          <a:bodyPr wrap="square" lIns="0" rIns="0" tIns="0" bIns="0">
            <a:spAutoFit/>
          </a:bodyPr>
          <a:lstStyle/>
          <a:p>
            <a:pPr algn="l"/>
            <a:r>
              <a:rPr sz="1300" b="0" i="1">
                <a:solidFill>
                  <a:srgbClr val="FF6B35"/>
                </a:solidFill>
                <a:latin typeface="DejaVu Sans Mono"/>
              </a:rPr>
              <a:t>~ 10 minutes</a:t>
            </a:r>
          </a:p>
        </p:txBody>
      </p:sp>
      <p:sp>
        <p:nvSpPr>
          <p:cNvPr id="18" name="Rectangle 17"/>
          <p:cNvSpPr/>
          <p:nvPr/>
        </p:nvSpPr>
        <p:spPr>
          <a:xfrm>
            <a:off x="6233160" y="4572000"/>
            <a:ext cx="5120640" cy="1874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160" y="4572000"/>
            <a:ext cx="73152" cy="18745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53200" y="4892040"/>
            <a:ext cx="4480560" cy="1005840"/>
          </a:xfrm>
          <a:prstGeom prst="rect">
            <a:avLst/>
          </a:prstGeom>
          <a:noFill/>
        </p:spPr>
        <p:txBody>
          <a:bodyPr wrap="square" lIns="0" rIns="0" tIns="0" bIns="0">
            <a:spAutoFit/>
          </a:bodyPr>
          <a:lstStyle/>
          <a:p>
            <a:pPr algn="l"/>
            <a:r>
              <a:rPr sz="2200" b="1" i="0">
                <a:solidFill>
                  <a:srgbClr val="0F172A"/>
                </a:solidFill>
                <a:latin typeface="Ubuntu"/>
              </a:rPr>
              <a:t>A bot that books your climbing gym at 7 AM</a:t>
            </a:r>
          </a:p>
        </p:txBody>
      </p:sp>
      <p:sp>
        <p:nvSpPr>
          <p:cNvPr id="21" name="TextBox 20"/>
          <p:cNvSpPr txBox="1"/>
          <p:nvPr/>
        </p:nvSpPr>
        <p:spPr>
          <a:xfrm>
            <a:off x="6553200" y="5897880"/>
            <a:ext cx="4480560" cy="411480"/>
          </a:xfrm>
          <a:prstGeom prst="rect">
            <a:avLst/>
          </a:prstGeom>
          <a:noFill/>
        </p:spPr>
        <p:txBody>
          <a:bodyPr wrap="square" lIns="0" rIns="0" tIns="0" bIns="0">
            <a:spAutoFit/>
          </a:bodyPr>
          <a:lstStyle/>
          <a:p>
            <a:pPr algn="l"/>
            <a:r>
              <a:rPr sz="1300" b="0" i="1">
                <a:solidFill>
                  <a:srgbClr val="FF6B35"/>
                </a:solidFill>
                <a:latin typeface="DejaVu Sans Mono"/>
              </a:rPr>
              <a:t>~ 20 minutes, lightly unethical</a:t>
            </a:r>
          </a:p>
        </p:txBody>
      </p:sp>
      <p:sp>
        <p:nvSpPr>
          <p:cNvPr id="22" name="TextBox 21"/>
          <p:cNvSpPr txBox="1"/>
          <p:nvPr/>
        </p:nvSpPr>
        <p:spPr>
          <a:xfrm>
            <a:off x="685800" y="6400800"/>
            <a:ext cx="10972800" cy="274320"/>
          </a:xfrm>
          <a:prstGeom prst="rect">
            <a:avLst/>
          </a:prstGeom>
          <a:noFill/>
        </p:spPr>
        <p:txBody>
          <a:bodyPr wrap="square" lIns="0" rIns="0" tIns="0" bIns="0">
            <a:spAutoFit/>
          </a:bodyPr>
          <a:lstStyle/>
          <a:p>
            <a:pPr algn="l"/>
            <a:r>
              <a:rPr sz="1100" b="0" i="1">
                <a:solidFill>
                  <a:srgbClr val="6B7280"/>
                </a:solidFill>
                <a:latin typeface="Ubuntu"/>
              </a:rPr>
              <a:t>s05  ·  The gym bot slide always gets the laugh.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411480" cy="10972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438912"/>
            <a:ext cx="10515600" cy="365760"/>
          </a:xfrm>
          <a:prstGeom prst="rect">
            <a:avLst/>
          </a:prstGeom>
          <a:noFill/>
        </p:spPr>
        <p:txBody>
          <a:bodyPr wrap="square" lIns="0" rIns="0" tIns="0" bIns="0">
            <a:spAutoFit/>
          </a:bodyPr>
          <a:lstStyle/>
          <a:p>
            <a:pPr algn="l"/>
            <a:r>
              <a:rPr sz="1100" b="1" i="0" spc="200">
                <a:solidFill>
                  <a:srgbClr val="FF6B35"/>
                </a:solidFill>
                <a:latin typeface="Ubuntu"/>
              </a:rPr>
              <a:t>GET STARTED</a:t>
            </a:r>
          </a:p>
        </p:txBody>
      </p:sp>
      <p:sp>
        <p:nvSpPr>
          <p:cNvPr id="5" name="TextBox 4"/>
          <p:cNvSpPr txBox="1"/>
          <p:nvPr/>
        </p:nvSpPr>
        <p:spPr>
          <a:xfrm>
            <a:off x="548640" y="1005840"/>
            <a:ext cx="10789920" cy="1463040"/>
          </a:xfrm>
          <a:prstGeom prst="rect">
            <a:avLst/>
          </a:prstGeom>
          <a:noFill/>
        </p:spPr>
        <p:txBody>
          <a:bodyPr wrap="square" lIns="0" rIns="0" tIns="0" bIns="0">
            <a:spAutoFit/>
          </a:bodyPr>
          <a:lstStyle/>
          <a:p>
            <a:pPr algn="l">
              <a:lnSpc>
                <a:spcPct val="110000"/>
              </a:lnSpc>
            </a:pPr>
            <a:r>
              <a:rPr sz="5800" b="1" i="0">
                <a:solidFill>
                  <a:srgbClr val="FFFFFF"/>
                </a:solidFill>
                <a:latin typeface="Ubuntu"/>
              </a:rPr>
              <a:t>Go build something.</a:t>
            </a:r>
          </a:p>
          <a:p>
            <a:pPr algn="l">
              <a:lnSpc>
                <a:spcPct val="110000"/>
              </a:lnSpc>
              <a:spcBef>
                <a:spcPts val="600"/>
              </a:spcBef>
            </a:pPr>
            <a:r>
              <a:rPr sz="2000" b="0" i="0">
                <a:solidFill>
                  <a:srgbClr val="F5EFE0"/>
                </a:solidFill>
                <a:latin typeface="Ubuntu"/>
              </a:rPr>
              <a:t>Two commands. That is the entire install.</a:t>
            </a:r>
          </a:p>
        </p:txBody>
      </p:sp>
      <p:sp>
        <p:nvSpPr>
          <p:cNvPr id="6" name="Rounded Rectangle 5"/>
          <p:cNvSpPr/>
          <p:nvPr/>
        </p:nvSpPr>
        <p:spPr>
          <a:xfrm>
            <a:off x="746760" y="3291840"/>
            <a:ext cx="7132320" cy="201168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6800" y="3657600"/>
            <a:ext cx="274320"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32560" y="3584448"/>
            <a:ext cx="6126480" cy="274320"/>
          </a:xfrm>
          <a:prstGeom prst="rect">
            <a:avLst/>
          </a:prstGeom>
          <a:noFill/>
        </p:spPr>
        <p:txBody>
          <a:bodyPr wrap="square" lIns="0" rIns="0" tIns="0" bIns="0">
            <a:spAutoFit/>
          </a:bodyPr>
          <a:lstStyle/>
          <a:p>
            <a:pPr algn="l"/>
            <a:r>
              <a:rPr sz="1100" b="1" i="0" spc="200">
                <a:solidFill>
                  <a:srgbClr val="FFA480"/>
                </a:solidFill>
                <a:latin typeface="Ubuntu"/>
              </a:rPr>
              <a:t>STEP 1 — INSTALL ONCE</a:t>
            </a:r>
          </a:p>
        </p:txBody>
      </p:sp>
      <p:sp>
        <p:nvSpPr>
          <p:cNvPr id="9" name="TextBox 8"/>
          <p:cNvSpPr txBox="1"/>
          <p:nvPr/>
        </p:nvSpPr>
        <p:spPr>
          <a:xfrm>
            <a:off x="1066800" y="4206240"/>
            <a:ext cx="6492240" cy="822960"/>
          </a:xfrm>
          <a:prstGeom prst="rect">
            <a:avLst/>
          </a:prstGeom>
          <a:noFill/>
        </p:spPr>
        <p:txBody>
          <a:bodyPr wrap="square" lIns="0" rIns="0" tIns="0" bIns="0">
            <a:spAutoFit/>
          </a:bodyPr>
          <a:lstStyle/>
          <a:p>
            <a:pPr algn="l"/>
            <a:r>
              <a:rPr sz="1800" b="1" i="0">
                <a:solidFill>
                  <a:srgbClr val="F5EFE0"/>
                </a:solidFill>
                <a:latin typeface="DejaVu Sans Mono"/>
              </a:rPr>
              <a:t>npm install -g @anthropic-ai/claude-code</a:t>
            </a:r>
          </a:p>
        </p:txBody>
      </p:sp>
      <p:sp>
        <p:nvSpPr>
          <p:cNvPr id="10" name="Rounded Rectangle 9"/>
          <p:cNvSpPr/>
          <p:nvPr/>
        </p:nvSpPr>
        <p:spPr>
          <a:xfrm>
            <a:off x="8244840" y="3291840"/>
            <a:ext cx="3200400" cy="201168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64880" y="3657600"/>
            <a:ext cx="274320"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30640" y="3584448"/>
            <a:ext cx="2194560" cy="274320"/>
          </a:xfrm>
          <a:prstGeom prst="rect">
            <a:avLst/>
          </a:prstGeom>
          <a:noFill/>
        </p:spPr>
        <p:txBody>
          <a:bodyPr wrap="square" lIns="0" rIns="0" tIns="0" bIns="0">
            <a:spAutoFit/>
          </a:bodyPr>
          <a:lstStyle/>
          <a:p>
            <a:pPr algn="l"/>
            <a:r>
              <a:rPr sz="1100" b="1" i="0" spc="200">
                <a:solidFill>
                  <a:srgbClr val="FFA480"/>
                </a:solidFill>
                <a:latin typeface="Ubuntu"/>
              </a:rPr>
              <a:t>STEP 2 — RUN</a:t>
            </a:r>
          </a:p>
        </p:txBody>
      </p:sp>
      <p:sp>
        <p:nvSpPr>
          <p:cNvPr id="13" name="TextBox 12"/>
          <p:cNvSpPr txBox="1"/>
          <p:nvPr/>
        </p:nvSpPr>
        <p:spPr>
          <a:xfrm>
            <a:off x="8564880" y="4206240"/>
            <a:ext cx="2560320" cy="822960"/>
          </a:xfrm>
          <a:prstGeom prst="rect">
            <a:avLst/>
          </a:prstGeom>
          <a:noFill/>
        </p:spPr>
        <p:txBody>
          <a:bodyPr wrap="square" lIns="0" rIns="0" tIns="0" bIns="0">
            <a:spAutoFit/>
          </a:bodyPr>
          <a:lstStyle/>
          <a:p>
            <a:pPr algn="l"/>
            <a:r>
              <a:rPr sz="1800" b="1" i="0">
                <a:solidFill>
                  <a:srgbClr val="F5EFE0"/>
                </a:solidFill>
                <a:latin typeface="DejaVu Sans Mono"/>
              </a:rPr>
              <a:t>claude</a:t>
            </a:r>
          </a:p>
        </p:txBody>
      </p:sp>
      <p:sp>
        <p:nvSpPr>
          <p:cNvPr id="14" name="TextBox 13"/>
          <p:cNvSpPr txBox="1"/>
          <p:nvPr/>
        </p:nvSpPr>
        <p:spPr>
          <a:xfrm>
            <a:off x="548640" y="6035040"/>
            <a:ext cx="11064240" cy="320040"/>
          </a:xfrm>
          <a:prstGeom prst="rect">
            <a:avLst/>
          </a:prstGeom>
          <a:noFill/>
        </p:spPr>
        <p:txBody>
          <a:bodyPr wrap="square" lIns="0" rIns="0" tIns="0" bIns="0">
            <a:spAutoFit/>
          </a:bodyPr>
          <a:lstStyle/>
          <a:p>
            <a:pPr algn="ctr"/>
            <a:r>
              <a:rPr sz="1400" b="0" i="0">
                <a:solidFill>
                  <a:srgbClr val="FFA480"/>
                </a:solidFill>
                <a:latin typeface="DejaVu Sans Mono"/>
              </a:rPr>
              <a:t>claude.com/claude-code</a:t>
            </a:r>
          </a:p>
        </p:txBody>
      </p:sp>
      <p:sp>
        <p:nvSpPr>
          <p:cNvPr id="15" name="TextBox 14"/>
          <p:cNvSpPr txBox="1"/>
          <p:nvPr/>
        </p:nvSpPr>
        <p:spPr>
          <a:xfrm>
            <a:off x="548640" y="6355080"/>
            <a:ext cx="11064240" cy="320040"/>
          </a:xfrm>
          <a:prstGeom prst="rect">
            <a:avLst/>
          </a:prstGeom>
          <a:noFill/>
        </p:spPr>
        <p:txBody>
          <a:bodyPr wrap="square" lIns="0" rIns="0" tIns="0" bIns="0">
            <a:spAutoFit/>
          </a:bodyPr>
          <a:lstStyle/>
          <a:p>
            <a:pPr algn="ctr"/>
            <a:r>
              <a:rPr sz="1600" b="0" i="1">
                <a:solidFill>
                  <a:srgbClr val="F5EFE0"/>
                </a:solidFill>
                <a:latin typeface="Ubuntu"/>
              </a:rPr>
              <a:t>Now close this deck. Go build.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